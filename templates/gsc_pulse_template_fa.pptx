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2f8d9e6-349b-5982-ae46-6fcd9482388d/scratchpad/deck/puls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64008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800" b="1" dirty="0">
                <a:solidFill>
                  <a:srgbClr val="F2A541"/>
                </a:solidFill>
              </a:defRPr>
            </a:lvl1pPr>
          </a:lstStyle>
          <a:p>
            <a:pPr algn="r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3317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r" indent="0" marL="0">
              <a:buNone/>
            </a:pPr>
            <a:endParaRPr lang="en-US" sz="4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200" dirty="0">
                <a:solidFill>
                  <a:srgbClr val="CADCFC"/>
                </a:solidFill>
              </a:defRPr>
            </a:lvl1pPr>
          </a:lstStyle>
          <a:p>
            <a:pPr algn="r" indent="0" marL="0">
              <a:buNone/>
            </a:pPr>
            <a:endParaRPr lang="en-US" sz="2200" dirty="0"/>
          </a:p>
        </p:txBody>
      </p:sp>
      <p:sp>
        <p:nvSpPr>
          <p:cNvPr id="6" name="Text 0"/>
          <p:cNvSpPr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B8"/>
                </a:solidFill>
              </a:rPr>
              <a:t>ساخته‌شده با PulseO · مهدی رئوف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BE5"/>
            </a:solidFill>
            <a:prstDash val="solid"/>
          </a:ln>
        </p:spPr>
      </p:sp>
      <p:pic>
        <p:nvPicPr>
          <p:cNvPr id="3" name="Image 0" descr="/tmp/claude-0/-home-claude/32f8d9e6-349b-5982-ae46-6fcd9482388d/scratchpad/deck/puls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635508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3367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E3C"/>
                </a:solidFill>
              </a:rPr>
              <a:t>PulseO</a:t>
            </a:r>
            <a:endParaRPr lang="en-US" sz="1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rgbClr val="1B1E3C"/>
                </a:solidFill>
              </a:defRPr>
            </a:lvl1pPr>
          </a:lstStyle>
          <a:p>
            <a:pPr algn="r" indent="0" marL="0">
              <a:buNone/>
            </a:pPr>
            <a:endParaRPr lang="en-US" sz="3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4785055" y="6336792"/>
            <a:ext cx="6858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000" dirty="0">
                <a:solidFill>
                  <a:srgbClr val="8A8FA6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Shape 2"/>
          <p:cNvSpPr/>
          <p:nvPr/>
        </p:nvSpPr>
        <p:spPr>
          <a:xfrm>
            <a:off x="548640" y="1371600"/>
            <a:ext cx="4096512" cy="4663440"/>
          </a:xfrm>
          <a:prstGeom prst="rect">
            <a:avLst>
              <a:gd name="adj" fmla="val 2232"/>
            </a:avLst>
          </a:prstGeom>
          <a:solidFill>
            <a:srgbClr val="F3F4F8"/>
          </a:solidFill>
          <a:ln/>
        </p:spPr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4937760" y="1371600"/>
            <a:ext cx="6702552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600" dirty="0">
                <a:solidFill>
                  <a:srgbClr val="1B1E3C"/>
                </a:solidFill>
              </a:defRPr>
            </a:lvl1pPr>
          </a:lstStyle>
          <a:p>
            <a:pPr algn="r" indent="0" marL="0">
              <a:buNone/>
            </a:pPr>
            <a:endParaRPr lang="en-US" sz="1600" dirty="0"/>
          </a:p>
        </p:txBody>
      </p:sp>
      <p:sp>
        <p:nvSpPr>
          <p:cNvPr id="9" name="Text 3"/>
          <p:cNvSpPr/>
          <p:nvPr>
            <p:ph idx="107" type="body" hasCustomPrompt="1"/>
          </p:nvPr>
        </p:nvSpPr>
        <p:spPr>
          <a:xfrm>
            <a:off x="822960" y="1600200"/>
            <a:ext cx="3547872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400" dirty="0">
                <a:solidFill>
                  <a:srgbClr val="1B1E3C"/>
                </a:solidFill>
              </a:defRPr>
            </a:lvl1pPr>
          </a:lstStyle>
          <a:p>
            <a:pPr algn="r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48840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arm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BE5"/>
            </a:solidFill>
            <a:prstDash val="solid"/>
          </a:ln>
        </p:spPr>
      </p:sp>
      <p:pic>
        <p:nvPicPr>
          <p:cNvPr id="3" name="Image 0" descr="/tmp/claude-0/-home-claude/32f8d9e6-349b-5982-ae46-6fcd9482388d/scratchpad/deck/puls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635508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3367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E3C"/>
                </a:solidFill>
              </a:rPr>
              <a:t>PulseO</a:t>
            </a:r>
            <a:endParaRPr lang="en-US" sz="1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rgbClr val="1B1E3C"/>
                </a:solidFill>
              </a:defRPr>
            </a:lvl1pPr>
          </a:lstStyle>
          <a:p>
            <a:pPr algn="r" indent="0" marL="0">
              <a:buNone/>
            </a:pPr>
            <a:endParaRPr lang="en-US" sz="3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4785055" y="6336792"/>
            <a:ext cx="6858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000" dirty="0">
                <a:solidFill>
                  <a:srgbClr val="8A8FA6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48840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ore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BE5"/>
            </a:solidFill>
            <a:prstDash val="solid"/>
          </a:ln>
        </p:spPr>
      </p:sp>
      <p:pic>
        <p:nvPicPr>
          <p:cNvPr id="3" name="Image 0" descr="/tmp/claude-0/-home-claude/32f8d9e6-349b-5982-ae46-6fcd9482388d/scratchpad/deck/puls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635508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3367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E3C"/>
                </a:solidFill>
              </a:rPr>
              <a:t>PulseO</a:t>
            </a:r>
            <a:endParaRPr lang="en-US" sz="1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rgbClr val="1B1E3C"/>
                </a:solidFill>
              </a:defRPr>
            </a:lvl1pPr>
          </a:lstStyle>
          <a:p>
            <a:pPr algn="r" indent="0" marL="0">
              <a:buNone/>
            </a:pPr>
            <a:endParaRPr lang="en-US" sz="3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4785055" y="6336792"/>
            <a:ext cx="6858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000" dirty="0">
                <a:solidFill>
                  <a:srgbClr val="8A8FA6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48840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BE5"/>
            </a:solidFill>
            <a:prstDash val="solid"/>
          </a:ln>
        </p:spPr>
      </p:sp>
      <p:pic>
        <p:nvPicPr>
          <p:cNvPr id="3" name="Image 0" descr="/tmp/claude-0/-home-claude/32f8d9e6-349b-5982-ae46-6fcd9482388d/scratchpad/deck/puls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635508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3367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E3C"/>
                </a:solidFill>
              </a:rPr>
              <a:t>PulseO</a:t>
            </a:r>
            <a:endParaRPr lang="en-US" sz="1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rgbClr val="1B1E3C"/>
                </a:solidFill>
              </a:defRPr>
            </a:lvl1pPr>
          </a:lstStyle>
          <a:p>
            <a:pPr algn="r" indent="0" marL="0">
              <a:buNone/>
            </a:pPr>
            <a:endParaRPr lang="en-US" sz="3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4785055" y="6336792"/>
            <a:ext cx="6858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000" dirty="0">
                <a:solidFill>
                  <a:srgbClr val="8A8FA6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48640" y="5715000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200" i="1" dirty="0">
                <a:solidFill>
                  <a:srgbClr val="4A4F6A"/>
                </a:solidFill>
              </a:defRPr>
            </a:lvl1pPr>
          </a:lstStyle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48840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+ 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BE5"/>
            </a:solidFill>
            <a:prstDash val="solid"/>
          </a:ln>
        </p:spPr>
      </p:sp>
      <p:pic>
        <p:nvPicPr>
          <p:cNvPr id="3" name="Image 0" descr="/tmp/claude-0/-home-claude/32f8d9e6-349b-5982-ae46-6fcd9482388d/scratchpad/deck/puls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635508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3367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E3C"/>
                </a:solidFill>
              </a:rPr>
              <a:t>PulseO</a:t>
            </a:r>
            <a:endParaRPr lang="en-US" sz="1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rgbClr val="1B1E3C"/>
                </a:solidFill>
              </a:defRPr>
            </a:lvl1pPr>
          </a:lstStyle>
          <a:p>
            <a:pPr algn="r" indent="0" marL="0">
              <a:buNone/>
            </a:pPr>
            <a:endParaRPr lang="en-US" sz="3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4785055" y="6336792"/>
            <a:ext cx="6858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000" dirty="0">
                <a:solidFill>
                  <a:srgbClr val="8A8FA6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48840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Tabl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BE5"/>
            </a:solidFill>
            <a:prstDash val="solid"/>
          </a:ln>
        </p:spPr>
      </p:sp>
      <p:pic>
        <p:nvPicPr>
          <p:cNvPr id="3" name="Image 0" descr="/tmp/claude-0/-home-claude/32f8d9e6-349b-5982-ae46-6fcd9482388d/scratchpad/deck/puls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635508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3367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E3C"/>
                </a:solidFill>
              </a:rPr>
              <a:t>PulseO</a:t>
            </a:r>
            <a:endParaRPr lang="en-US" sz="1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rgbClr val="1B1E3C"/>
                </a:solidFill>
              </a:defRPr>
            </a:lvl1pPr>
          </a:lstStyle>
          <a:p>
            <a:pPr algn="r" indent="0" marL="0">
              <a:buNone/>
            </a:pPr>
            <a:endParaRPr lang="en-US" sz="3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4785055" y="6336792"/>
            <a:ext cx="6858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000" dirty="0">
                <a:solidFill>
                  <a:srgbClr val="8A8FA6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48640" y="1325880"/>
            <a:ext cx="53949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600" b="1" dirty="0">
                <a:solidFill>
                  <a:srgbClr val="1B1E3C"/>
                </a:solidFill>
              </a:defRPr>
            </a:lvl1pPr>
          </a:lstStyle>
          <a:p>
            <a:pPr algn="r" indent="0" marL="0">
              <a:buNone/>
            </a:pPr>
            <a:endParaRPr lang="en-US" sz="16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6245352" y="1325880"/>
            <a:ext cx="53949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600" b="1" dirty="0">
                <a:solidFill>
                  <a:srgbClr val="1B1E3C"/>
                </a:solidFill>
              </a:defRPr>
            </a:lvl1pPr>
          </a:lstStyle>
          <a:p>
            <a:pPr algn="r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48840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t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BE5"/>
            </a:solidFill>
            <a:prstDash val="solid"/>
          </a:ln>
        </p:spPr>
      </p:sp>
      <p:pic>
        <p:nvPicPr>
          <p:cNvPr id="3" name="Image 0" descr="/tmp/claude-0/-home-claude/32f8d9e6-349b-5982-ae46-6fcd9482388d/scratchpad/deck/puls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635508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3367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E3C"/>
                </a:solidFill>
              </a:rPr>
              <a:t>PulseO</a:t>
            </a:r>
            <a:endParaRPr lang="en-US" sz="1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rgbClr val="1B1E3C"/>
                </a:solidFill>
              </a:defRPr>
            </a:lvl1pPr>
          </a:lstStyle>
          <a:p>
            <a:pPr algn="r" indent="0" marL="0">
              <a:buNone/>
            </a:pPr>
            <a:endParaRPr lang="en-US" sz="3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4785055" y="6336792"/>
            <a:ext cx="6858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000" dirty="0">
                <a:solidFill>
                  <a:srgbClr val="8A8FA6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48640" y="1371600"/>
            <a:ext cx="11094415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400" dirty="0">
                <a:solidFill>
                  <a:srgbClr val="4A4F6A"/>
                </a:solidFill>
              </a:defRPr>
            </a:lvl1pPr>
          </a:lstStyle>
          <a:p>
            <a:pPr algn="r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48840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48840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2A541"/>
                </a:solidFill>
              </a:rPr>
              <a:t>SITE LABEL</a:t>
            </a:r>
            <a:endParaRPr lang="en-US" sz="1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3317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[فارسی] Monthly SEO Report</a:t>
            </a:r>
            <a:endParaRPr lang="en-US" sz="4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Period (e.g. September 2026)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E3C"/>
                </a:solidFill>
              </a:rPr>
              <a:t>[فارسی] Layout: Summary</a:t>
            </a:r>
            <a:endParaRPr lang="en-US" sz="3000" dirty="0"/>
          </a:p>
        </p:txBody>
      </p:sp>
      <p:sp>
        <p:nvSpPr>
          <p:cNvPr id="3" name="Text 3"/>
          <p:cNvSpPr/>
          <p:nvPr>
            <p:ph idx="106" type="body" hasCustomPrompt="1"/>
          </p:nvPr>
        </p:nvSpPr>
        <p:spPr>
          <a:xfrm>
            <a:off x="4937760" y="1371600"/>
            <a:ext cx="6702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B1E3C"/>
                </a:solidFill>
              </a:rPr>
              <a:t>What happened: 4 to 6 bullets (AI summary or placeholder)</a:t>
            </a:r>
            <a:endParaRPr lang="en-US" sz="1600" dirty="0"/>
          </a:p>
        </p:txBody>
      </p:sp>
      <p:sp>
        <p:nvSpPr>
          <p:cNvPr id="4" name="Text 3"/>
          <p:cNvSpPr/>
          <p:nvPr>
            <p:ph idx="107" type="body" hasCustomPrompt="1"/>
          </p:nvPr>
        </p:nvSpPr>
        <p:spPr>
          <a:xfrm>
            <a:off x="822960" y="1600200"/>
            <a:ext cx="35478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B1E3C"/>
                </a:solidFill>
              </a:rPr>
              <a:t>Recommended next steps: 2 to 3 items</a:t>
            </a:r>
            <a:endParaRPr lang="en-US" sz="14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4785055" y="63367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8A8FA6"/>
                </a:solidFill>
              </a:rPr>
              <a:t>Site · Report · Period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48840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E3C"/>
                </a:solidFill>
              </a:rPr>
              <a:t>[فارسی] Layout: Alarms (code draws alarm cards in the content area: x 0.6, y 1.5, w 12.13, h 5.1)</a:t>
            </a:r>
            <a:endParaRPr lang="en-US" sz="30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4785055" y="63367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8A8FA6"/>
                </a:solidFill>
              </a:rPr>
              <a:t>Site · Report · Period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48840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E3C"/>
                </a:solidFill>
              </a:rPr>
              <a:t>[فارسی] Layout: Scorecard (code draws 5 KPI cards in the content area)</a:t>
            </a:r>
            <a:endParaRPr lang="en-US" sz="30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4785055" y="63367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8A8FA6"/>
                </a:solidFill>
              </a:rPr>
              <a:t>Site · Report · Period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48840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E3C"/>
                </a:solidFill>
              </a:rPr>
              <a:t>[فارسی] Layout: Chart (native chart in x 0.6, y 1.5, w 12.13, h 4.6)</a:t>
            </a:r>
            <a:endParaRPr lang="en-US" sz="3000" dirty="0"/>
          </a:p>
        </p:txBody>
      </p:sp>
      <p:sp>
        <p:nvSpPr>
          <p:cNvPr id="3" name="Text 2"/>
          <p:cNvSpPr/>
          <p:nvPr>
            <p:ph idx="105" type="body" hasCustomPrompt="1"/>
          </p:nvPr>
        </p:nvSpPr>
        <p:spPr>
          <a:xfrm>
            <a:off x="548640" y="5715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4A4F6A"/>
                </a:solidFill>
              </a:rPr>
              <a:t>Caption: one sentence explaining the chart</a:t>
            </a:r>
            <a:endParaRPr lang="en-US" sz="12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4785055" y="63367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8A8FA6"/>
                </a:solidFill>
              </a:rPr>
              <a:t>Site · Report · Period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48840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E3C"/>
                </a:solidFill>
              </a:rPr>
              <a:t>[فارسی] Layout: Chart + Table (chart left 7.2 in wide, table right)</a:t>
            </a:r>
            <a:endParaRPr lang="en-US" sz="30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4785055" y="63367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8A8FA6"/>
                </a:solidFill>
              </a:rPr>
              <a:t>Site · Report · Period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48840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E3C"/>
                </a:solidFill>
              </a:rPr>
              <a:t>[فارسی] Layout: Two Tables (tables from y 1.95, each 5.9 in wide)</a:t>
            </a:r>
            <a:endParaRPr lang="en-US" sz="3000" dirty="0"/>
          </a:p>
        </p:txBody>
      </p:sp>
      <p:sp>
        <p:nvSpPr>
          <p:cNvPr id="3" name="Text 2"/>
          <p:cNvSpPr/>
          <p:nvPr>
            <p:ph idx="105" type="body" hasCustomPrompt="1"/>
          </p:nvPr>
        </p:nvSpPr>
        <p:spPr>
          <a:xfrm>
            <a:off x="548640" y="13258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B1E3C"/>
                </a:solidFill>
              </a:rPr>
              <a:t>Left table heading</a:t>
            </a:r>
            <a:endParaRPr lang="en-US" sz="1600" dirty="0"/>
          </a:p>
        </p:txBody>
      </p:sp>
      <p:sp>
        <p:nvSpPr>
          <p:cNvPr id="4" name="Text 2"/>
          <p:cNvSpPr/>
          <p:nvPr>
            <p:ph idx="106" type="body" hasCustomPrompt="1"/>
          </p:nvPr>
        </p:nvSpPr>
        <p:spPr>
          <a:xfrm>
            <a:off x="6245352" y="13258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B1E3C"/>
                </a:solidFill>
              </a:rPr>
              <a:t>Right table heading</a:t>
            </a:r>
            <a:endParaRPr lang="en-US" sz="16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4785055" y="63367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8A8FA6"/>
                </a:solidFill>
              </a:rPr>
              <a:t>Site · Report · Period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48840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1E3C"/>
                </a:solidFill>
              </a:rPr>
              <a:t>[فارسی] Layout: Notes</a:t>
            </a:r>
            <a:endParaRPr lang="en-US" sz="3000" dirty="0"/>
          </a:p>
        </p:txBody>
      </p:sp>
      <p:sp>
        <p:nvSpPr>
          <p:cNvPr id="3" name="Text 2"/>
          <p:cNvSpPr/>
          <p:nvPr>
            <p:ph idx="105" type="body" hasCustomPrompt="1"/>
          </p:nvPr>
        </p:nvSpPr>
        <p:spPr>
          <a:xfrm>
            <a:off x="548640" y="1371600"/>
            <a:ext cx="11094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A4F6A"/>
                </a:solidFill>
              </a:rPr>
              <a:t>Data notes / about this report</a:t>
            </a:r>
            <a:endParaRPr lang="en-US" sz="1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4785055" y="63367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8A8FA6"/>
                </a:solidFill>
              </a:rPr>
              <a:t>Site · Report · Period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48840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lseO">
  <a:themeElements>
    <a:clrScheme name="PulseO">
      <a:dk1>
        <a:srgbClr val="1B1E3C"/>
      </a:dk1>
      <a:lt1>
        <a:srgbClr val="FFFFFF"/>
      </a:lt1>
      <a:dk2>
        <a:srgbClr val="4A4F6A"/>
      </a:dk2>
      <a:lt2>
        <a:srgbClr val="F3F4F8"/>
      </a:lt2>
      <a:accent1>
        <a:srgbClr val="F2A541"/>
      </a:accent1>
      <a:accent2>
        <a:srgbClr val="1A9E6A"/>
      </a:accent2>
      <a:accent3>
        <a:srgbClr val="D64545"/>
      </a:accent3>
      <a:accent4>
        <a:srgbClr val="6C7AE0"/>
      </a:accent4>
      <a:accent5>
        <a:srgbClr val="2B2F55"/>
      </a:accent5>
      <a:accent6>
        <a:srgbClr val="8A8FA6"/>
      </a:accent6>
      <a:hlink>
        <a:srgbClr val="3355CC"/>
      </a:hlink>
      <a:folHlink>
        <a:srgbClr val="7A4FBF"/>
      </a:folHlink>
    </a:clrScheme>
    <a:fontScheme name="PulseO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PulseO – گزارش سئو</dc:title>
  <dc:subject>PptxGenJS Presentation</dc:subject>
  <dc:creator>Mehdi Raoof</dc:creator>
  <cp:lastModifiedBy>Mehdi Raoof</cp:lastModifiedBy>
  <cp:revision>1</cp:revision>
  <dcterms:created xsi:type="dcterms:W3CDTF">2026-10-16T21:25:28Z</dcterms:created>
  <dcterms:modified xsi:type="dcterms:W3CDTF">2026-10-16T21:25:28Z</dcterms:modified>
</cp:coreProperties>
</file>